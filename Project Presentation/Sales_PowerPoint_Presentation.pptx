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0A20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822960"/>
            <a:ext cx="521208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417320"/>
            <a:ext cx="1371600" cy="8229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 CASE STUDY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84832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777240" y="4224528"/>
            <a:ext cx="4754880" cy="18288"/>
          </a:xfrm>
          <a:prstGeom prst="rect">
            <a:avLst/>
          </a:prstGeom>
          <a:solidFill>
            <a:srgbClr val="24557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3708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·  Pricing  ·  Profitability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retail product · 1,053 trading days · Dec 2013 – Nov 2016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51389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React · TypeScript · Recharts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CONTEXT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6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daily sales performance of a single retail product to identify pricing trends, profitability drivers, promotional opportunities and actionable business insights for senior management.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1664208"/>
            <a:ext cx="64008" cy="9692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product profitable?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healthy at R186.91M, yet cumulative gross profit is negative.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035808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3236976"/>
            <a:ext cx="64008" cy="9692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218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pricing keeping pace with cost?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584448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has repeatedly overtaken selling price across the window.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4608576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4809744"/>
            <a:ext cx="64008" cy="9692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791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volume compensate?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5157216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behaviour is tested against price to check elasticity.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160934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0624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R186.91M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04872" y="4069080"/>
            <a:ext cx="160934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04872" y="420624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25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-R7.12M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404872" y="4663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loss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69664" y="4069080"/>
            <a:ext cx="160934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69664" y="4206240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1,053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169664" y="46634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Business Problem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transactional records for one retail product, plus metrics derived during analysis.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457200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fields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32688" y="2670048"/>
            <a:ext cx="146304" cy="146304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54680" y="25786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trading date (Dec 2013 – Nov 2016)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3401568"/>
            <a:ext cx="146304" cy="146304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310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54680" y="33101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booked for the day (ZAR)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" y="4133088"/>
            <a:ext cx="146304" cy="146304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54680" y="404164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 of goods sold (ZAR)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" y="4864608"/>
            <a:ext cx="146304" cy="146304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54680" y="4773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moved on the day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08192" y="178308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2011680"/>
            <a:ext cx="4572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metrics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0" y="2670048"/>
            <a:ext cx="146304" cy="14630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Selling Price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22792" y="25786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÷ Quantity Sold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3273552"/>
            <a:ext cx="146304" cy="14630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Price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622792" y="31821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 ÷ Quantity Sold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3877056"/>
            <a:ext cx="146304" cy="14630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7856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22792" y="378561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− Cost of Sales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4480560"/>
            <a:ext cx="146304" cy="14630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622792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÷ Sales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5084064"/>
            <a:ext cx="146304" cy="14630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992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Unit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622792" y="499262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÷ Quantity Sold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per trading day  ·  151 weeks  ·  36 calendar months  ·  no missing dates after validation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Dataset Overview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METHOD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Feature Engineering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11680"/>
            <a:ext cx="457200" cy="457200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87121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daily transactional extract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5400000">
            <a:off x="2697480" y="2551176"/>
            <a:ext cx="182880" cy="237744"/>
          </a:xfrm>
          <a:prstGeom prst="triangle">
            <a:avLst/>
          </a:prstGeom>
          <a:solidFill>
            <a:srgbClr val="9FB6C9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18288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2011680"/>
            <a:ext cx="457200" cy="4572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3090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90672" y="256032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90672" y="287121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range &amp; date-continuity checks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83480" y="2551176"/>
            <a:ext cx="182880" cy="237744"/>
          </a:xfrm>
          <a:prstGeom prst="triangle">
            <a:avLst/>
          </a:prstGeom>
          <a:solidFill>
            <a:srgbClr val="9FB6C9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8288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2011680"/>
            <a:ext cx="457200" cy="457200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256032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287121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zero-quantity value handling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5400000">
            <a:off x="7269480" y="2551176"/>
            <a:ext cx="182880" cy="237744"/>
          </a:xfrm>
          <a:prstGeom prst="triangle">
            <a:avLst/>
          </a:prstGeom>
          <a:solidFill>
            <a:srgbClr val="9FB6C9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18288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62672" y="2011680"/>
            <a:ext cx="457200" cy="4572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6" name="Text 24"/>
          <p:cNvSpPr/>
          <p:nvPr/>
        </p:nvSpPr>
        <p:spPr>
          <a:xfrm>
            <a:off x="7662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62672" y="256032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62672" y="287121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price &amp; margin columns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 rot="5400000">
            <a:off x="9555480" y="2551176"/>
            <a:ext cx="182880" cy="237744"/>
          </a:xfrm>
          <a:prstGeom prst="triangle">
            <a:avLst/>
          </a:prstGeom>
          <a:solidFill>
            <a:srgbClr val="9FB6C9"/>
          </a:solidFill>
          <a:ln/>
        </p:spPr>
      </p:sp>
      <p:sp>
        <p:nvSpPr>
          <p:cNvPr id="30" name="Shape 28"/>
          <p:cNvSpPr/>
          <p:nvPr/>
        </p:nvSpPr>
        <p:spPr>
          <a:xfrm>
            <a:off x="9784080" y="18288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48672" y="2011680"/>
            <a:ext cx="457200" cy="457200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32" name="Text 30"/>
          <p:cNvSpPr/>
          <p:nvPr/>
        </p:nvSpPr>
        <p:spPr>
          <a:xfrm>
            <a:off x="9948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48672" y="256032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48672" y="287121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 &amp; yearly KPI roll-ups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88620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68680" y="4114800"/>
            <a:ext cx="384048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233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45720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1,053 continuous trading days with no duplicate dates and no negative quantities.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61688" y="388620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0288" y="4114800"/>
            <a:ext cx="384048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1" name="Text 39"/>
          <p:cNvSpPr/>
          <p:nvPr/>
        </p:nvSpPr>
        <p:spPr>
          <a:xfrm>
            <a:off x="4590288" y="4233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90288" y="45720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zero quantity excluded from per-unit price metrics to avoid divide-by-zero distortion.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83296" y="388620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311896" y="4114800"/>
            <a:ext cx="384048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5" name="Text 43"/>
          <p:cNvSpPr/>
          <p:nvPr/>
        </p:nvSpPr>
        <p:spPr>
          <a:xfrm>
            <a:off x="8311896" y="4233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KPIs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11896" y="45720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selling price, unit cost price, gross profit, margin % and profit per unit calculated per day.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Data Preparation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PAGE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Dashboard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673352"/>
            <a:ext cx="10563149" cy="1216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15468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326440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Trend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94897"/>
            <a:ext cx="3895344" cy="189934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37760" y="315468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102352" y="326440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Gross Profit Trend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672224"/>
            <a:ext cx="3895344" cy="174468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235440" y="3154680"/>
            <a:ext cx="2313432" cy="2468880"/>
          </a:xfrm>
          <a:prstGeom prst="roundRect">
            <a:avLst>
              <a:gd name="adj" fmla="val 3162"/>
            </a:avLst>
          </a:prstGeom>
          <a:solidFill>
            <a:srgbClr val="0E2A47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9436608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436608" y="3611880"/>
            <a:ext cx="1965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near R7M/week in mid-2014, then decays through 2016.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sits below zero for most of the window.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fell 43% from 2014 to 2016.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Executive Overview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PAGE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Analysis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vs Cost Price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71677"/>
            <a:ext cx="3346704" cy="16276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15968" y="1572768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80560" y="168249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Distribution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759" y="2011680"/>
            <a:ext cx="1962578" cy="19476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82712" y="1572768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147304" y="168249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Quantity Sold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503" y="2011680"/>
            <a:ext cx="1962578" cy="19476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0080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4453128"/>
            <a:ext cx="64008" cy="1152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7" name="Text 12"/>
          <p:cNvSpPr/>
          <p:nvPr/>
        </p:nvSpPr>
        <p:spPr>
          <a:xfrm>
            <a:off x="896112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consistency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6112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drifted from R32.60 to R42.98 (a 32% band) with no sharp shocks — pricing is stable but consistently trails procurement cost.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315968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15968" y="4453128"/>
            <a:ext cx="64008" cy="1152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0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sensitivity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0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shows units falling as price rises above ~R40, evidence of genuine price elasticity rather than pure seasonality.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91856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91856" y="4453128"/>
            <a:ext cx="64008" cy="1152144"/>
          </a:xfrm>
          <a:prstGeom prst="rect">
            <a:avLst/>
          </a:prstGeom>
          <a:solidFill>
            <a:srgbClr val="D2543F"/>
          </a:solidFill>
          <a:ln/>
        </p:spPr>
      </p:sp>
      <p:sp>
        <p:nvSpPr>
          <p:cNvPr id="25" name="Text 20"/>
          <p:cNvSpPr/>
          <p:nvPr/>
        </p:nvSpPr>
        <p:spPr>
          <a:xfrm>
            <a:off x="8247888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volume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47888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combined the highest average cost (R39.74) with a 24% volume drop, producing the worst annual loss of R3.90M.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Pricing Analysis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PAGE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Analysis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Cost of Sales vs Gross Profit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5593" y="2011680"/>
            <a:ext cx="2749655" cy="1947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572768"/>
            <a:ext cx="262432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168249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Gross Profit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97920"/>
            <a:ext cx="2404872" cy="157519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915400" y="1572768"/>
            <a:ext cx="263347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079992" y="168249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2194926"/>
            <a:ext cx="2414016" cy="15811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0080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4453128"/>
            <a:ext cx="64008" cy="1152144"/>
          </a:xfrm>
          <a:prstGeom prst="rect">
            <a:avLst/>
          </a:prstGeom>
          <a:solidFill>
            <a:srgbClr val="D2543F"/>
          </a:solidFill>
          <a:ln/>
        </p:spPr>
      </p:sp>
      <p:sp>
        <p:nvSpPr>
          <p:cNvPr id="17" name="Text 12"/>
          <p:cNvSpPr/>
          <p:nvPr/>
        </p:nvSpPr>
        <p:spPr>
          <a:xfrm>
            <a:off x="896112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periods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6112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of 36 months closed in profit. Nov-2015 was the worst month at -R0.60M, with unit cost R2.81 above selling price.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315968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15968" y="4453128"/>
            <a:ext cx="64008" cy="1152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0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signal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0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Oct-2016 delivered the strongest month at +R0.22M, with price at R41.63 against cost of R37.48.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91856" y="42519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91856" y="4453128"/>
            <a:ext cx="64008" cy="115214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25" name="Text 20"/>
          <p:cNvSpPr/>
          <p:nvPr/>
        </p:nvSpPr>
        <p:spPr>
          <a:xfrm>
            <a:off x="8247888" y="4407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47888" y="471830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 narrowed from -R3.90M (2015) to -R0.94M (2016) as pricing discipline improved.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Profitability &amp; Performance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2951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without return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64261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R186.91M of sales produced a R7.12M cumulative gross loss — scale is not the constraint, margin 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2951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outruns price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4261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cost of R37.25 exceeds the R37.07 average selling price, so the base unit economics are negative.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47888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47888" y="22951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contracting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64261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fell from 2.25M (2014) to 1.29M (2016) while average price rose R3.94 — clear elasticity pressure.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" y="44439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are concentrated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479145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alone contributed R3.90M of the total loss, driven by the highest cost year on record.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15968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44439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improving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479145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is the only year where price (R38.52) exceeded cost (R37.21); Q4-2016 turned sustainably profitable.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91856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7888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47888" y="44439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months are rare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47888" y="4791456"/>
            <a:ext cx="3127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8 of 36 months closed above break-even, and 5 of those fall in the final 12 months of trading.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Key Insights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65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pricing strategy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792224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weekly price-vs-cost guardrail; escalate whenever unit cost closes within R1.00 of selling price.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49840" y="188366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 w="12700">
            <a:solidFill>
              <a:srgbClr val="C3D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0" y="188366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1B4E8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7614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 costs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68833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landed cost on the 2015 supply terms that drove the R3.90M annual loss.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49840" y="2779776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 w="12700">
            <a:solidFill>
              <a:srgbClr val="C3D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77977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438144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639312"/>
            <a:ext cx="384048" cy="384048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promotional pricing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358444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 depth: revenue-led promotions in 2014–15 grew volume but deepened the loss.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149840" y="367588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1F3F6"/>
          </a:solidFill>
          <a:ln w="12700">
            <a:solidFill>
              <a:srgbClr val="BCE3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367588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334256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4535424"/>
            <a:ext cx="384048" cy="384048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45537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gross profit margin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26280" y="448056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sustained margin floor of +3%, replicating the Oct-2016 price/cost spread of R4.15.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149840" y="45720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1F3F6"/>
          </a:solidFill>
          <a:ln w="12700">
            <a:solidFill>
              <a:srgbClr val="BCE3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457200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230368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" y="5431536"/>
            <a:ext cx="384048" cy="384048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431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54498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pricing elasticity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26280" y="5376672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price/volume scatter into a monthly elasticity read before any price move.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149840" y="546811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1F3F6"/>
          </a:solidFill>
          <a:ln w="12700">
            <a:solidFill>
              <a:srgbClr val="BCE3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0" y="54681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01675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effect: closing the R0.18 price-to-cost gap on 1.29M annual units returns roughly R0.23M of gross profit per year.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Recommendations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· PRODUCT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7635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1709928"/>
            <a:ext cx="6291072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572768"/>
            <a:ext cx="3090672" cy="4206240"/>
          </a:xfrm>
          <a:prstGeom prst="roundRect">
            <a:avLst>
              <a:gd name="adj" fmla="val 2367"/>
            </a:avLst>
          </a:prstGeom>
          <a:solidFill>
            <a:srgbClr val="0E2A47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0" y="178308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decision-makers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0" y="2304288"/>
            <a:ext cx="128016" cy="128016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1" name="Text 8"/>
          <p:cNvSpPr/>
          <p:nvPr/>
        </p:nvSpPr>
        <p:spPr>
          <a:xfrm>
            <a:off x="8924544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Three-page narrative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24544" y="24688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pricing and profitability, sequenced like a board report.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0" y="3017520"/>
            <a:ext cx="128016" cy="128016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4" name="Text 11"/>
          <p:cNvSpPr/>
          <p:nvPr/>
        </p:nvSpPr>
        <p:spPr>
          <a:xfrm>
            <a:off x="8924544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tooltips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924544" y="318211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 and date on every chart point.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0" y="3730752"/>
            <a:ext cx="128016" cy="128016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4"/>
          <p:cNvSpPr/>
          <p:nvPr/>
        </p:nvSpPr>
        <p:spPr>
          <a:xfrm>
            <a:off x="8924544" y="3639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924544" y="389534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and month filters restate every pricing chart instantly.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0" y="4443984"/>
            <a:ext cx="128016" cy="128016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0" name="Text 17"/>
          <p:cNvSpPr/>
          <p:nvPr/>
        </p:nvSpPr>
        <p:spPr>
          <a:xfrm>
            <a:off x="8924544" y="43525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924544" y="460857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worst periods surfaced automatically from the data.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0" y="5157216"/>
            <a:ext cx="128016" cy="128016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3" name="Text 20"/>
          <p:cNvSpPr/>
          <p:nvPr/>
        </p:nvSpPr>
        <p:spPr>
          <a:xfrm>
            <a:off x="8924544" y="5065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animated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924544" y="532180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transitions, mobile-ready layouts.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 CSS · Recharts · Framer Motion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Interactive Dashboard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14630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· CAPABILITY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Demonstrated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57984"/>
            <a:ext cx="347472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88950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window queries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192024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54096" y="2157984"/>
            <a:ext cx="347472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23042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54096" y="288950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pivot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92024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66944" y="2157984"/>
            <a:ext cx="347472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16" name="Text 14"/>
          <p:cNvSpPr/>
          <p:nvPr/>
        </p:nvSpPr>
        <p:spPr>
          <a:xfrm>
            <a:off x="5266944" y="23042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288950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outlier handling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78624" y="192024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79792" y="2157984"/>
            <a:ext cx="347472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0" name="Text 18"/>
          <p:cNvSpPr/>
          <p:nvPr/>
        </p:nvSpPr>
        <p:spPr>
          <a:xfrm>
            <a:off x="7479792" y="23042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79792" y="288950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trend discovery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91472" y="192024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0" y="2157984"/>
            <a:ext cx="347472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0" y="23042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92640" y="288950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layout systems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4078224"/>
            <a:ext cx="347472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2245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480974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Narrative-led reporting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52928" y="384048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54096" y="4078224"/>
            <a:ext cx="347472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32" name="Text 30"/>
          <p:cNvSpPr/>
          <p:nvPr/>
        </p:nvSpPr>
        <p:spPr>
          <a:xfrm>
            <a:off x="3054096" y="42245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54096" y="480974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reporting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65776" y="384048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66944" y="4078224"/>
            <a:ext cx="347472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6" name="Text 34"/>
          <p:cNvSpPr/>
          <p:nvPr/>
        </p:nvSpPr>
        <p:spPr>
          <a:xfrm>
            <a:off x="5266944" y="42245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66944" y="480974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 &amp; derivation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78624" y="384048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79792" y="4078224"/>
            <a:ext cx="347472" cy="54864"/>
          </a:xfrm>
          <a:prstGeom prst="rect">
            <a:avLst/>
          </a:prstGeom>
          <a:solidFill>
            <a:srgbClr val="1B4E8C"/>
          </a:solidFill>
          <a:ln/>
        </p:spPr>
      </p:sp>
      <p:sp>
        <p:nvSpPr>
          <p:cNvPr id="40" name="Text 38"/>
          <p:cNvSpPr/>
          <p:nvPr/>
        </p:nvSpPr>
        <p:spPr>
          <a:xfrm>
            <a:off x="7479792" y="42245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79792" y="480974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cost and elasticity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91472" y="3840480"/>
            <a:ext cx="20848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52400" dist="25400" dir="5400000">
              <a:srgbClr val="BBCBD9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692640" y="4078224"/>
            <a:ext cx="347472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4" name="Text 42"/>
          <p:cNvSpPr/>
          <p:nvPr/>
        </p:nvSpPr>
        <p:spPr>
          <a:xfrm>
            <a:off x="9692640" y="42245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692640" y="480974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&amp; visual encoding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end-to-end on this case study: raw daily extract → validated dataset → derived KPIs → interactive executive dashboard.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Skills Demonstrated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solidFill>
            <a:srgbClr val="10314F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749040"/>
            <a:ext cx="4937760" cy="4937760"/>
          </a:xfrm>
          <a:prstGeom prst="ellipse">
            <a:avLst/>
          </a:prstGeom>
          <a:solidFill>
            <a:srgbClr val="10314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28800"/>
            <a:ext cx="1371600" cy="8229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 — the full interactive dashboard is available online.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60020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13375A"/>
          </a:solidFill>
          <a:ln w="12700">
            <a:solidFill>
              <a:srgbClr val="2455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7099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9476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LINKEDIN URL]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256032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13375A"/>
          </a:solidFill>
          <a:ln w="12700">
            <a:solidFill>
              <a:srgbClr val="2455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6700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29077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GITHUB URL]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52044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13375A"/>
          </a:solidFill>
          <a:ln w="12700">
            <a:solidFill>
              <a:srgbClr val="2455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630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3867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sales-case-study-dashboard.lovable.app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44805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13375A"/>
          </a:solidFill>
          <a:ln w="12700">
            <a:solidFill>
              <a:srgbClr val="245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5902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48280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EMAIL]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·  Data Analytics Case Study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 — Data Analytics Case Study</dc:title>
  <dc:subject>PptxGenJS Presentation</dc:subject>
  <dc:creator>Data Analytics Portfolio</dc:creator>
  <cp:lastModifiedBy>Data Analytics Portfolio</cp:lastModifiedBy>
  <cp:revision>1</cp:revision>
  <dcterms:created xsi:type="dcterms:W3CDTF">2026-07-30T10:08:25Z</dcterms:created>
  <dcterms:modified xsi:type="dcterms:W3CDTF">2026-07-30T10:08:25Z</dcterms:modified>
</cp:coreProperties>
</file>